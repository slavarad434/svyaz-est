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7"/>
    <p:restoredTop sz="94692"/>
  </p:normalViewPr>
  <p:slideViewPr>
    <p:cSldViewPr snapToGrid="0">
      <p:cViewPr varScale="1">
        <p:scale>
          <a:sx n="137" d="100"/>
          <a:sy n="137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Представьте проект одной фразой: это независимая карта, которая показывает фактическое, а не заявленное качество мобильного интернета.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Подчеркните, что проект не дублирует официальную карту покрытия. Он отвечает на практический вопрос о пригодности соединения для конкретной задачи.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Объясните путь данных: пользователь делает замер, система объединяет его с другими и показывает не сырые цифры, а понятный результат для выбранного сценария.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Сделайте акцент на аудиториях помимо путешественников. Продукт помогает регулярно выбирать оператора, жильё, рабочее место, маршрут и площадку для бизнеса.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Замените поля с именами перед защитой. Если проект выполняется одним человеком, скажите, что роли объединяются, а объём ограничивается функциями MVP.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Завершите конкретным результатом: не карта всей страны, а проверяемый пилот с понятными границами и возможностью дальнейшего расширения.</a:t>
            </a:r>
          </a:p>
          <a:p>
            <a:endParaRPr/>
          </a:p>
          <a:p>
            <a:r>
              <a:t>[Sources]</a:t>
            </a:r>
          </a:p>
          <a:p>
            <a:r>
              <a:t>- Авторская концепция проекта «СвязьЕсть»; внешние статистические данные и изображения не использовались.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kicker">
            <a:extLst>
              <a:ext uri="{FF2B5EF4-FFF2-40B4-BE49-F238E27FC236}">
                <a16:creationId xmlns:a16="http://schemas.microsoft.com/office/drawing/2014/main" id="{4913FF62-9867-468F-A52F-AA178249F1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КОНЦЕПЦИЯ ПРОЕКТА • 2026</a:t>
            </a:r>
          </a:p>
        </p:txBody>
      </p:sp>
      <p:sp>
        <p:nvSpPr>
          <p:cNvPr id="2" name="cover-team">
            <a:extLst>
              <a:ext uri="{FF2B5EF4-FFF2-40B4-BE49-F238E27FC236}">
                <a16:creationId xmlns:a16="http://schemas.microsoft.com/office/drawing/2014/main" id="{448BF154-B435-4BCD-848D-CBB6B9853173}"/>
              </a:ext>
            </a:extLst>
          </p:cNvPr>
          <p:cNvSpPr>
            <a:spLocks noGrp="1"/>
          </p:cNvSpPr>
          <p:nvPr/>
        </p:nvSpPr>
        <p:spPr>
          <a:xfrm>
            <a:off x="7753350" y="40005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3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35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Команда</a:t>
            </a:r>
            <a:r>
              <a:rPr sz="135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135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Максим</a:t>
            </a:r>
            <a:r>
              <a:rPr sz="135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· </a:t>
            </a:r>
            <a:r>
              <a:rPr lang="ru-RU" sz="135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Вячеслав</a:t>
            </a:r>
            <a:endParaRPr sz="1350" dirty="0">
              <a:solidFill>
                <a:srgbClr val="656B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accent">
            <a:extLst>
              <a:ext uri="{FF2B5EF4-FFF2-40B4-BE49-F238E27FC236}">
                <a16:creationId xmlns:a16="http://schemas.microsoft.com/office/drawing/2014/main" id="{45D14023-7AF5-42A8-A607-562A9064257C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219200" cy="114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74D0A6EF-2D1C-4FCE-9DBB-A2C3A6090DBA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8096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58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СвязьЕсть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CA842ABC-AE50-43B1-BFBA-FAC252F79E0F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8477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31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656B76"/>
                </a:solidFill>
                <a:latin typeface="Arial"/>
                <a:ea typeface="Arial"/>
                <a:cs typeface="Arial"/>
              </a:rPr>
              <a:t>Карта реального качества</a:t>
            </a:r>
          </a:p>
          <a:p>
            <a:pPr algn="l">
              <a:defRPr sz="31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656B76"/>
                </a:solidFill>
                <a:latin typeface="Arial"/>
                <a:ea typeface="Arial"/>
                <a:cs typeface="Arial"/>
              </a:rPr>
              <a:t>мобильного интернета</a:t>
            </a:r>
          </a:p>
        </p:txBody>
      </p:sp>
      <p:sp>
        <p:nvSpPr>
          <p:cNvPr id="6" name="cover-pilot">
            <a:extLst>
              <a:ext uri="{FF2B5EF4-FFF2-40B4-BE49-F238E27FC236}">
                <a16:creationId xmlns:a16="http://schemas.microsoft.com/office/drawing/2014/main" id="{8EB468F8-2B3D-43BB-9E8A-37130A55B022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50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56B76"/>
                </a:solidFill>
                <a:latin typeface="Arial"/>
                <a:ea typeface="Arial"/>
                <a:cs typeface="Arial"/>
              </a:rPr>
              <a:t>Пилот: один город или выбранные районы</a:t>
            </a:r>
          </a:p>
        </p:txBody>
      </p:sp>
    </p:spTree>
    <p:extLst>
      <p:ext uri="{BB962C8B-B14F-4D97-AF65-F5344CB8AC3E}">
        <p14:creationId xmlns:p14="http://schemas.microsoft.com/office/powerpoint/2010/main" val="165877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-2">
            <a:extLst>
              <a:ext uri="{FF2B5EF4-FFF2-40B4-BE49-F238E27FC236}">
                <a16:creationId xmlns:a16="http://schemas.microsoft.com/office/drawing/2014/main" id="{BE75D77C-CEB1-482C-B66B-02DC57D188D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1. ПРОБЛЕМА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72F72D01-1BE9-4022-B09D-F09D53B89B4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34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Покрытие не равно качеству связи</a:t>
            </a: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E5AF65F8-B5D8-4A27-B85D-796AA40115E0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56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-question">
            <a:extLst>
              <a:ext uri="{FF2B5EF4-FFF2-40B4-BE49-F238E27FC236}">
                <a16:creationId xmlns:a16="http://schemas.microsoft.com/office/drawing/2014/main" id="{62BF993C-13B0-41EE-B3D9-4980AE9DAE44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Будет ли интернет работать здесь и сейчас?</a:t>
            </a:r>
          </a:p>
        </p:txBody>
      </p:sp>
      <p:sp>
        <p:nvSpPr>
          <p:cNvPr id="5" name="problem-panel-1">
            <a:extLst>
              <a:ext uri="{FF2B5EF4-FFF2-40B4-BE49-F238E27FC236}">
                <a16:creationId xmlns:a16="http://schemas.microsoft.com/office/drawing/2014/main" id="{8BC2E2D4-913B-42FB-B4AA-FD602FA71776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5105400" cy="137160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6" name="problem-head-1">
            <a:extLst>
              <a:ext uri="{FF2B5EF4-FFF2-40B4-BE49-F238E27FC236}">
                <a16:creationId xmlns:a16="http://schemas.microsoft.com/office/drawing/2014/main" id="{A4298E93-551E-4629-A0AA-1770F054434E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Покрытие ≠ качество</a:t>
            </a:r>
          </a:p>
        </p:txBody>
      </p:sp>
      <p:sp>
        <p:nvSpPr>
          <p:cNvPr id="7" name="problem-body-1">
            <a:extLst>
              <a:ext uri="{FF2B5EF4-FFF2-40B4-BE49-F238E27FC236}">
                <a16:creationId xmlns:a16="http://schemas.microsoft.com/office/drawing/2014/main" id="{2FD00183-CA5D-4B20-9C03-4C4D0BD29778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4648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Значок 4G не гарантирует скорость и стабильность.</a:t>
            </a:r>
          </a:p>
        </p:txBody>
      </p:sp>
      <p:sp>
        <p:nvSpPr>
          <p:cNvPr id="8" name="problem-panel-2">
            <a:extLst>
              <a:ext uri="{FF2B5EF4-FFF2-40B4-BE49-F238E27FC236}">
                <a16:creationId xmlns:a16="http://schemas.microsoft.com/office/drawing/2014/main" id="{1B510D0C-745D-4A59-A818-9719F6CE1A85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5105400" cy="137160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9" name="problem-head-2">
            <a:extLst>
              <a:ext uri="{FF2B5EF4-FFF2-40B4-BE49-F238E27FC236}">
                <a16:creationId xmlns:a16="http://schemas.microsoft.com/office/drawing/2014/main" id="{5AA4DD3B-085E-46DB-951E-10887E491785}"/>
              </a:ext>
            </a:extLst>
          </p:cNvPr>
          <p:cNvSpPr>
            <a:spLocks noGrp="1"/>
          </p:cNvSpPr>
          <p:nvPr/>
        </p:nvSpPr>
        <p:spPr>
          <a:xfrm>
            <a:off x="6705600" y="2857500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Условия меняются</a:t>
            </a:r>
          </a:p>
        </p:txBody>
      </p:sp>
      <p:sp>
        <p:nvSpPr>
          <p:cNvPr id="10" name="problem-body-2">
            <a:extLst>
              <a:ext uri="{FF2B5EF4-FFF2-40B4-BE49-F238E27FC236}">
                <a16:creationId xmlns:a16="http://schemas.microsoft.com/office/drawing/2014/main" id="{060B8A46-A0F7-4987-9B92-3E457F9B5298}"/>
              </a:ext>
            </a:extLst>
          </p:cNvPr>
          <p:cNvSpPr>
            <a:spLocks noGrp="1"/>
          </p:cNvSpPr>
          <p:nvPr/>
        </p:nvSpPr>
        <p:spPr>
          <a:xfrm>
            <a:off x="6705600" y="3314700"/>
            <a:ext cx="4648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Оператор, время, нагрузка и помещение дают разный результат.</a:t>
            </a:r>
          </a:p>
        </p:txBody>
      </p:sp>
      <p:sp>
        <p:nvSpPr>
          <p:cNvPr id="11" name="problem-panel-3">
            <a:extLst>
              <a:ext uri="{FF2B5EF4-FFF2-40B4-BE49-F238E27FC236}">
                <a16:creationId xmlns:a16="http://schemas.microsoft.com/office/drawing/2014/main" id="{D178EF6E-80E2-49C6-AFE7-3E5A9C15CC87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5105400" cy="137160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12" name="problem-head-3">
            <a:extLst>
              <a:ext uri="{FF2B5EF4-FFF2-40B4-BE49-F238E27FC236}">
                <a16:creationId xmlns:a16="http://schemas.microsoft.com/office/drawing/2014/main" id="{4C812446-2DB1-461C-BD63-7D741DBD3433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Данные разрознены</a:t>
            </a:r>
          </a:p>
        </p:txBody>
      </p:sp>
      <p:sp>
        <p:nvSpPr>
          <p:cNvPr id="13" name="problem-body-3">
            <a:extLst>
              <a:ext uri="{FF2B5EF4-FFF2-40B4-BE49-F238E27FC236}">
                <a16:creationId xmlns:a16="http://schemas.microsoft.com/office/drawing/2014/main" id="{F6468927-F47D-4F1A-AC85-02292F403E3C}"/>
              </a:ext>
            </a:extLst>
          </p:cNvPr>
          <p:cNvSpPr>
            <a:spLocks noGrp="1"/>
          </p:cNvSpPr>
          <p:nvPr/>
        </p:nvSpPr>
        <p:spPr>
          <a:xfrm>
            <a:off x="838200" y="4972050"/>
            <a:ext cx="4648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Отзывы субъективны, а старые измерения быстро теряют ценность.</a:t>
            </a:r>
          </a:p>
        </p:txBody>
      </p:sp>
      <p:sp>
        <p:nvSpPr>
          <p:cNvPr id="14" name="problem-panel-4">
            <a:extLst>
              <a:ext uri="{FF2B5EF4-FFF2-40B4-BE49-F238E27FC236}">
                <a16:creationId xmlns:a16="http://schemas.microsoft.com/office/drawing/2014/main" id="{1F43E164-1C4A-49FB-8C17-CE6DC0FA8E4F}"/>
              </a:ext>
            </a:extLst>
          </p:cNvPr>
          <p:cNvSpPr>
            <a:spLocks noGrp="1"/>
          </p:cNvSpPr>
          <p:nvPr/>
        </p:nvSpPr>
        <p:spPr>
          <a:xfrm>
            <a:off x="6477000" y="4324350"/>
            <a:ext cx="5105400" cy="137160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15" name="problem-head-4">
            <a:extLst>
              <a:ext uri="{FF2B5EF4-FFF2-40B4-BE49-F238E27FC236}">
                <a16:creationId xmlns:a16="http://schemas.microsoft.com/office/drawing/2014/main" id="{F265C945-C643-433A-B454-740FAC1669A0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464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Ошибка стоит времени</a:t>
            </a:r>
          </a:p>
        </p:txBody>
      </p:sp>
      <p:sp>
        <p:nvSpPr>
          <p:cNvPr id="16" name="problem-body-4">
            <a:extLst>
              <a:ext uri="{FF2B5EF4-FFF2-40B4-BE49-F238E27FC236}">
                <a16:creationId xmlns:a16="http://schemas.microsoft.com/office/drawing/2014/main" id="{B9159402-B985-461D-9CF3-9341DE7F0279}"/>
              </a:ext>
            </a:extLst>
          </p:cNvPr>
          <p:cNvSpPr>
            <a:spLocks noGrp="1"/>
          </p:cNvSpPr>
          <p:nvPr/>
        </p:nvSpPr>
        <p:spPr>
          <a:xfrm>
            <a:off x="6705600" y="4972050"/>
            <a:ext cx="4648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Срываются звонки, навигация, оплата и рабочие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210589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ction-3">
            <a:extLst>
              <a:ext uri="{FF2B5EF4-FFF2-40B4-BE49-F238E27FC236}">
                <a16:creationId xmlns:a16="http://schemas.microsoft.com/office/drawing/2014/main" id="{29914AF6-F4B9-49DE-AC2F-56EBE62BFE2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2. СПОСОБ РЕШЕНИЯ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58C77A73-7C8D-4ABE-B8D2-844DC3D6C15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34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Как замер становится оценкой района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732A510E-1151-4034-8075-C70AAA6990D1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5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1" name="solution-line"/>
          <p:cNvCxnSpPr/>
          <p:nvPr/>
        </p:nvCxnSpPr>
        <p:spPr>
          <a:xfrm>
            <a:off x="1714500" y="3209925"/>
            <a:ext cx="8763000" cy="0"/>
          </a:xfrm>
          <a:prstGeom prst="straightConnector1">
            <a:avLst/>
          </a:prstGeom>
          <a:ln w="28575">
            <a:solidFill>
              <a:srgbClr val="C8CDD5"/>
            </a:solidFill>
            <a:prstDash val="solid"/>
          </a:ln>
        </p:spPr>
      </p:cxnSp>
      <p:sp>
        <p:nvSpPr>
          <p:cNvPr id="5" name="solution-node-1">
            <a:extLst>
              <a:ext uri="{FF2B5EF4-FFF2-40B4-BE49-F238E27FC236}">
                <a16:creationId xmlns:a16="http://schemas.microsoft.com/office/drawing/2014/main" id="{92DCEF53-C466-4160-B26A-FC8921A0F5A3}"/>
              </a:ext>
            </a:extLst>
          </p:cNvPr>
          <p:cNvSpPr>
            <a:spLocks noGrp="1"/>
          </p:cNvSpPr>
          <p:nvPr/>
        </p:nvSpPr>
        <p:spPr>
          <a:xfrm>
            <a:off x="1552575" y="3048000"/>
            <a:ext cx="323850" cy="323850"/>
          </a:xfrm>
          <a:prstGeom prst="ellipse">
            <a:avLst/>
          </a:prstGeom>
          <a:solidFill>
            <a:srgbClr val="111318"/>
          </a:solidFill>
          <a:ln w="0">
            <a:noFill/>
            <a:prstDash val="solid"/>
          </a:ln>
        </p:spPr>
      </p:sp>
      <p:sp>
        <p:nvSpPr>
          <p:cNvPr id="6" name="solution-number-1">
            <a:extLst>
              <a:ext uri="{FF2B5EF4-FFF2-40B4-BE49-F238E27FC236}">
                <a16:creationId xmlns:a16="http://schemas.microsoft.com/office/drawing/2014/main" id="{19E5CC74-8A8A-4BA5-9E3D-A7AA5D5A57FA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6B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olution-head-1">
            <a:extLst>
              <a:ext uri="{FF2B5EF4-FFF2-40B4-BE49-F238E27FC236}">
                <a16:creationId xmlns:a16="http://schemas.microsoft.com/office/drawing/2014/main" id="{CBC88420-366A-492E-855E-76360A6CA120}"/>
              </a:ext>
            </a:extLst>
          </p:cNvPr>
          <p:cNvSpPr>
            <a:spLocks noGrp="1"/>
          </p:cNvSpPr>
          <p:nvPr/>
        </p:nvSpPr>
        <p:spPr>
          <a:xfrm>
            <a:off x="238125" y="3733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Замер</a:t>
            </a:r>
          </a:p>
        </p:txBody>
      </p:sp>
      <p:sp>
        <p:nvSpPr>
          <p:cNvPr id="8" name="solution-body-1">
            <a:extLst>
              <a:ext uri="{FF2B5EF4-FFF2-40B4-BE49-F238E27FC236}">
                <a16:creationId xmlns:a16="http://schemas.microsoft.com/office/drawing/2014/main" id="{383C753C-EFA3-4601-A6F0-88111E4F075A}"/>
              </a:ext>
            </a:extLst>
          </p:cNvPr>
          <p:cNvSpPr>
            <a:spLocks noGrp="1"/>
          </p:cNvSpPr>
          <p:nvPr/>
        </p:nvSpPr>
        <p:spPr>
          <a:xfrm>
            <a:off x="238125" y="4267200"/>
            <a:ext cx="295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Скорость, задержка, оператор, тип сети, время и условия.</a:t>
            </a:r>
          </a:p>
        </p:txBody>
      </p:sp>
      <p:sp>
        <p:nvSpPr>
          <p:cNvPr id="9" name="solution-node-2">
            <a:extLst>
              <a:ext uri="{FF2B5EF4-FFF2-40B4-BE49-F238E27FC236}">
                <a16:creationId xmlns:a16="http://schemas.microsoft.com/office/drawing/2014/main" id="{D975A513-99EE-4E0C-8068-2AC2BA9C9817}"/>
              </a:ext>
            </a:extLst>
          </p:cNvPr>
          <p:cNvSpPr>
            <a:spLocks noGrp="1"/>
          </p:cNvSpPr>
          <p:nvPr/>
        </p:nvSpPr>
        <p:spPr>
          <a:xfrm>
            <a:off x="5934075" y="3048000"/>
            <a:ext cx="323850" cy="3238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solution-number-2">
            <a:extLst>
              <a:ext uri="{FF2B5EF4-FFF2-40B4-BE49-F238E27FC236}">
                <a16:creationId xmlns:a16="http://schemas.microsoft.com/office/drawing/2014/main" id="{DCA170DB-B73F-4B95-886F-6B5088AC5EDE}"/>
              </a:ext>
            </a:extLst>
          </p:cNvPr>
          <p:cNvSpPr>
            <a:spLocks noGrp="1"/>
          </p:cNvSpPr>
          <p:nvPr/>
        </p:nvSpPr>
        <p:spPr>
          <a:xfrm>
            <a:off x="5410200" y="2476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solution-head-2">
            <a:extLst>
              <a:ext uri="{FF2B5EF4-FFF2-40B4-BE49-F238E27FC236}">
                <a16:creationId xmlns:a16="http://schemas.microsoft.com/office/drawing/2014/main" id="{1A70805C-D5B8-4298-9DE7-DCAE274EEEB5}"/>
              </a:ext>
            </a:extLst>
          </p:cNvPr>
          <p:cNvSpPr>
            <a:spLocks noGrp="1"/>
          </p:cNvSpPr>
          <p:nvPr/>
        </p:nvSpPr>
        <p:spPr>
          <a:xfrm>
            <a:off x="4619625" y="3733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12" name="solution-body-2">
            <a:extLst>
              <a:ext uri="{FF2B5EF4-FFF2-40B4-BE49-F238E27FC236}">
                <a16:creationId xmlns:a16="http://schemas.microsoft.com/office/drawing/2014/main" id="{55344BFF-34E6-428A-B7CE-6E72FEBDC3C2}"/>
              </a:ext>
            </a:extLst>
          </p:cNvPr>
          <p:cNvSpPr>
            <a:spLocks noGrp="1"/>
          </p:cNvSpPr>
          <p:nvPr/>
        </p:nvSpPr>
        <p:spPr>
          <a:xfrm>
            <a:off x="4619625" y="4267200"/>
            <a:ext cx="295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Несколько актуальных результатов формируют достоверную оценку.</a:t>
            </a:r>
          </a:p>
        </p:txBody>
      </p:sp>
      <p:sp>
        <p:nvSpPr>
          <p:cNvPr id="13" name="solution-node-3">
            <a:extLst>
              <a:ext uri="{FF2B5EF4-FFF2-40B4-BE49-F238E27FC236}">
                <a16:creationId xmlns:a16="http://schemas.microsoft.com/office/drawing/2014/main" id="{C66E4116-5CF7-4F40-977A-9550A25165BA}"/>
              </a:ext>
            </a:extLst>
          </p:cNvPr>
          <p:cNvSpPr>
            <a:spLocks noGrp="1"/>
          </p:cNvSpPr>
          <p:nvPr/>
        </p:nvSpPr>
        <p:spPr>
          <a:xfrm>
            <a:off x="10315575" y="3048000"/>
            <a:ext cx="323850" cy="323850"/>
          </a:xfrm>
          <a:prstGeom prst="ellipse">
            <a:avLst/>
          </a:prstGeom>
          <a:solidFill>
            <a:srgbClr val="111318"/>
          </a:solidFill>
          <a:ln w="0">
            <a:noFill/>
            <a:prstDash val="solid"/>
          </a:ln>
        </p:spPr>
      </p:sp>
      <p:sp>
        <p:nvSpPr>
          <p:cNvPr id="14" name="solution-number-3">
            <a:extLst>
              <a:ext uri="{FF2B5EF4-FFF2-40B4-BE49-F238E27FC236}">
                <a16:creationId xmlns:a16="http://schemas.microsoft.com/office/drawing/2014/main" id="{1C3A713E-81CE-4320-8130-B1DA5D6FE66A}"/>
              </a:ext>
            </a:extLst>
          </p:cNvPr>
          <p:cNvSpPr>
            <a:spLocks noGrp="1"/>
          </p:cNvSpPr>
          <p:nvPr/>
        </p:nvSpPr>
        <p:spPr>
          <a:xfrm>
            <a:off x="9791700" y="24765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350" b="1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6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solution-head-3">
            <a:extLst>
              <a:ext uri="{FF2B5EF4-FFF2-40B4-BE49-F238E27FC236}">
                <a16:creationId xmlns:a16="http://schemas.microsoft.com/office/drawing/2014/main" id="{605FE83F-EECB-43AD-8255-A26C70CA680A}"/>
              </a:ext>
            </a:extLst>
          </p:cNvPr>
          <p:cNvSpPr>
            <a:spLocks noGrp="1"/>
          </p:cNvSpPr>
          <p:nvPr/>
        </p:nvSpPr>
        <p:spPr>
          <a:xfrm>
            <a:off x="9001125" y="37338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Карта</a:t>
            </a:r>
          </a:p>
        </p:txBody>
      </p:sp>
      <p:sp>
        <p:nvSpPr>
          <p:cNvPr id="16" name="solution-body-3">
            <a:extLst>
              <a:ext uri="{FF2B5EF4-FFF2-40B4-BE49-F238E27FC236}">
                <a16:creationId xmlns:a16="http://schemas.microsoft.com/office/drawing/2014/main" id="{08C65F4F-BB2F-4B48-8755-4C2D74A6D2CE}"/>
              </a:ext>
            </a:extLst>
          </p:cNvPr>
          <p:cNvSpPr>
            <a:spLocks noGrp="1"/>
          </p:cNvSpPr>
          <p:nvPr/>
        </p:nvSpPr>
        <p:spPr>
          <a:xfrm>
            <a:off x="9001125" y="4267200"/>
            <a:ext cx="2952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42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56B76"/>
                </a:solidFill>
                <a:latin typeface="Arial"/>
                <a:ea typeface="Arial"/>
                <a:cs typeface="Arial"/>
              </a:rPr>
              <a:t>Фильтры и цветовые зоны показывают пригодность для задачи.</a:t>
            </a:r>
          </a:p>
        </p:txBody>
      </p:sp>
      <p:sp>
        <p:nvSpPr>
          <p:cNvPr id="17" name="solution-legend">
            <a:extLst>
              <a:ext uri="{FF2B5EF4-FFF2-40B4-BE49-F238E27FC236}">
                <a16:creationId xmlns:a16="http://schemas.microsoft.com/office/drawing/2014/main" id="{C2540C76-34D0-41CD-9C9B-C560FC2E42D4}"/>
              </a:ext>
            </a:extLst>
          </p:cNvPr>
          <p:cNvSpPr>
            <a:spLocks noGrp="1"/>
          </p:cNvSpPr>
          <p:nvPr/>
        </p:nvSpPr>
        <p:spPr>
          <a:xfrm>
            <a:off x="1562100" y="5676900"/>
            <a:ext cx="9067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500" b="1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Красный — связи нет  •  Жёлтый — базовые задачи  •  Зелёный — звонки и видео</a:t>
            </a:r>
          </a:p>
        </p:txBody>
      </p:sp>
    </p:spTree>
    <p:extLst>
      <p:ext uri="{BB962C8B-B14F-4D97-AF65-F5344CB8AC3E}">
        <p14:creationId xmlns:p14="http://schemas.microsoft.com/office/powerpoint/2010/main" val="199253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4">
            <a:extLst>
              <a:ext uri="{FF2B5EF4-FFF2-40B4-BE49-F238E27FC236}">
                <a16:creationId xmlns:a16="http://schemas.microsoft.com/office/drawing/2014/main" id="{1F3A61D4-9FCC-40D8-AC85-B5F2EF71F17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3. ЦЕЛЕВАЯ АУДИТОРИЯ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82F80C1A-B031-4C8E-94E7-D6B2AA02AB79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34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Карта помогает принимать разные решения</a:t>
            </a:r>
          </a:p>
        </p:txBody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F2F0C7B1-A0FE-46E3-A4E8-345F7B0EE06F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56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audience-index-1">
            <a:extLst>
              <a:ext uri="{FF2B5EF4-FFF2-40B4-BE49-F238E27FC236}">
                <a16:creationId xmlns:a16="http://schemas.microsoft.com/office/drawing/2014/main" id="{793F92CD-5FCF-484D-A362-540F49A43335}"/>
              </a:ext>
            </a:extLst>
          </p:cNvPr>
          <p:cNvSpPr>
            <a:spLocks noGrp="1"/>
          </p:cNvSpPr>
          <p:nvPr/>
        </p:nvSpPr>
        <p:spPr>
          <a:xfrm>
            <a:off x="609599" y="1981199"/>
            <a:ext cx="528735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udience-head-1">
            <a:extLst>
              <a:ext uri="{FF2B5EF4-FFF2-40B4-BE49-F238E27FC236}">
                <a16:creationId xmlns:a16="http://schemas.microsoft.com/office/drawing/2014/main" id="{C50E6B20-6964-4FC5-AB5C-701A5D74BAFC}"/>
              </a:ext>
            </a:extLst>
          </p:cNvPr>
          <p:cNvSpPr>
            <a:spLocks noGrp="1"/>
          </p:cNvSpPr>
          <p:nvPr/>
        </p:nvSpPr>
        <p:spPr>
          <a:xfrm>
            <a:off x="1295400" y="1981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Жители</a:t>
            </a:r>
          </a:p>
        </p:txBody>
      </p:sp>
      <p:cxnSp>
        <p:nvCxnSpPr>
          <p:cNvPr id="27" name="audience-rule-1"/>
          <p:cNvCxnSpPr/>
          <p:nvPr/>
        </p:nvCxnSpPr>
        <p:spPr>
          <a:xfrm>
            <a:off x="1295400" y="2476500"/>
            <a:ext cx="4095750" cy="0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7" name="audience-body-1">
            <a:extLst>
              <a:ext uri="{FF2B5EF4-FFF2-40B4-BE49-F238E27FC236}">
                <a16:creationId xmlns:a16="http://schemas.microsoft.com/office/drawing/2014/main" id="{8CBD959E-0D06-4A7F-9561-CABF31EE2B30}"/>
              </a:ext>
            </a:extLst>
          </p:cNvPr>
          <p:cNvSpPr>
            <a:spLocks noGrp="1"/>
          </p:cNvSpPr>
          <p:nvPr/>
        </p:nvSpPr>
        <p:spPr>
          <a:xfrm>
            <a:off x="1295400" y="264795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Сравнить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операторов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возле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дома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,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офиса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или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00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дачи</a:t>
            </a:r>
            <a:r>
              <a:rPr sz="1500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audience-index-2">
            <a:extLst>
              <a:ext uri="{FF2B5EF4-FFF2-40B4-BE49-F238E27FC236}">
                <a16:creationId xmlns:a16="http://schemas.microsoft.com/office/drawing/2014/main" id="{273ECEB2-0527-469F-A5B2-ABBB0EFDA9BB}"/>
              </a:ext>
            </a:extLst>
          </p:cNvPr>
          <p:cNvSpPr>
            <a:spLocks noGrp="1"/>
          </p:cNvSpPr>
          <p:nvPr/>
        </p:nvSpPr>
        <p:spPr>
          <a:xfrm>
            <a:off x="6476999" y="1981199"/>
            <a:ext cx="528735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audience-head-2">
            <a:extLst>
              <a:ext uri="{FF2B5EF4-FFF2-40B4-BE49-F238E27FC236}">
                <a16:creationId xmlns:a16="http://schemas.microsoft.com/office/drawing/2014/main" id="{3401F66D-0E85-4906-AEB9-5F520C89AA03}"/>
              </a:ext>
            </a:extLst>
          </p:cNvPr>
          <p:cNvSpPr>
            <a:spLocks noGrp="1"/>
          </p:cNvSpPr>
          <p:nvPr/>
        </p:nvSpPr>
        <p:spPr>
          <a:xfrm>
            <a:off x="7162800" y="19812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Удалённые сотрудники</a:t>
            </a:r>
          </a:p>
        </p:txBody>
      </p:sp>
      <p:cxnSp>
        <p:nvCxnSpPr>
          <p:cNvPr id="31" name="audience-rule-2"/>
          <p:cNvCxnSpPr/>
          <p:nvPr/>
        </p:nvCxnSpPr>
        <p:spPr>
          <a:xfrm>
            <a:off x="7162800" y="2476500"/>
            <a:ext cx="4095750" cy="0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1" name="audience-body-2">
            <a:extLst>
              <a:ext uri="{FF2B5EF4-FFF2-40B4-BE49-F238E27FC236}">
                <a16:creationId xmlns:a16="http://schemas.microsoft.com/office/drawing/2014/main" id="{14FAD773-4411-476C-AF83-C124490E2199}"/>
              </a:ext>
            </a:extLst>
          </p:cNvPr>
          <p:cNvSpPr>
            <a:spLocks noGrp="1"/>
          </p:cNvSpPr>
          <p:nvPr/>
        </p:nvSpPr>
        <p:spPr>
          <a:xfrm>
            <a:off x="7162800" y="264795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56B76"/>
                </a:solidFill>
                <a:latin typeface="Arial"/>
                <a:ea typeface="Arial"/>
                <a:cs typeface="Arial"/>
              </a:rPr>
              <a:t>Проверить, подойдёт ли место для видеозвонка и работы.</a:t>
            </a:r>
          </a:p>
        </p:txBody>
      </p:sp>
      <p:sp>
        <p:nvSpPr>
          <p:cNvPr id="12" name="audience-index-3">
            <a:extLst>
              <a:ext uri="{FF2B5EF4-FFF2-40B4-BE49-F238E27FC236}">
                <a16:creationId xmlns:a16="http://schemas.microsoft.com/office/drawing/2014/main" id="{414164C6-F730-41A9-9025-46FDAA95DC67}"/>
              </a:ext>
            </a:extLst>
          </p:cNvPr>
          <p:cNvSpPr>
            <a:spLocks noGrp="1"/>
          </p:cNvSpPr>
          <p:nvPr/>
        </p:nvSpPr>
        <p:spPr>
          <a:xfrm>
            <a:off x="609599" y="3733799"/>
            <a:ext cx="528735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audience-head-3">
            <a:extLst>
              <a:ext uri="{FF2B5EF4-FFF2-40B4-BE49-F238E27FC236}">
                <a16:creationId xmlns:a16="http://schemas.microsoft.com/office/drawing/2014/main" id="{1BFED3EB-805C-41C6-951E-6E8D30F3A050}"/>
              </a:ext>
            </a:extLst>
          </p:cNvPr>
          <p:cNvSpPr>
            <a:spLocks noGrp="1"/>
          </p:cNvSpPr>
          <p:nvPr/>
        </p:nvSpPr>
        <p:spPr>
          <a:xfrm>
            <a:off x="1295400" y="37338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Курьеры и водители</a:t>
            </a:r>
          </a:p>
        </p:txBody>
      </p:sp>
      <p:cxnSp>
        <p:nvCxnSpPr>
          <p:cNvPr id="35" name="audience-rule-3"/>
          <p:cNvCxnSpPr/>
          <p:nvPr/>
        </p:nvCxnSpPr>
        <p:spPr>
          <a:xfrm>
            <a:off x="1295400" y="4229100"/>
            <a:ext cx="4095750" cy="0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5" name="audience-body-3">
            <a:extLst>
              <a:ext uri="{FF2B5EF4-FFF2-40B4-BE49-F238E27FC236}">
                <a16:creationId xmlns:a16="http://schemas.microsoft.com/office/drawing/2014/main" id="{DB13F0D4-991B-42F6-9E92-CA194BDAAB13}"/>
              </a:ext>
            </a:extLst>
          </p:cNvPr>
          <p:cNvSpPr>
            <a:spLocks noGrp="1"/>
          </p:cNvSpPr>
          <p:nvPr/>
        </p:nvSpPr>
        <p:spPr>
          <a:xfrm>
            <a:off x="1295400" y="440055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56B76"/>
                </a:solidFill>
                <a:latin typeface="Arial"/>
                <a:ea typeface="Arial"/>
                <a:cs typeface="Arial"/>
              </a:rPr>
              <a:t>Избежать зон, где пропадают заказы, оплата и навигация.</a:t>
            </a:r>
          </a:p>
        </p:txBody>
      </p:sp>
      <p:sp>
        <p:nvSpPr>
          <p:cNvPr id="16" name="audience-index-4">
            <a:extLst>
              <a:ext uri="{FF2B5EF4-FFF2-40B4-BE49-F238E27FC236}">
                <a16:creationId xmlns:a16="http://schemas.microsoft.com/office/drawing/2014/main" id="{D4A5401E-0E0D-4944-AF53-3E7C8CD45590}"/>
              </a:ext>
            </a:extLst>
          </p:cNvPr>
          <p:cNvSpPr>
            <a:spLocks noGrp="1"/>
          </p:cNvSpPr>
          <p:nvPr/>
        </p:nvSpPr>
        <p:spPr>
          <a:xfrm>
            <a:off x="6476999" y="3733799"/>
            <a:ext cx="528735" cy="49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audience-head-4">
            <a:extLst>
              <a:ext uri="{FF2B5EF4-FFF2-40B4-BE49-F238E27FC236}">
                <a16:creationId xmlns:a16="http://schemas.microsoft.com/office/drawing/2014/main" id="{B60326B9-AEEF-4FB2-A455-3DB1A495CF3D}"/>
              </a:ext>
            </a:extLst>
          </p:cNvPr>
          <p:cNvSpPr>
            <a:spLocks noGrp="1"/>
          </p:cNvSpPr>
          <p:nvPr/>
        </p:nvSpPr>
        <p:spPr>
          <a:xfrm>
            <a:off x="7162800" y="373380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Бизнес и организаторы</a:t>
            </a:r>
          </a:p>
        </p:txBody>
      </p:sp>
      <p:cxnSp>
        <p:nvCxnSpPr>
          <p:cNvPr id="39" name="audience-rule-4"/>
          <p:cNvCxnSpPr/>
          <p:nvPr/>
        </p:nvCxnSpPr>
        <p:spPr>
          <a:xfrm>
            <a:off x="7162800" y="4229100"/>
            <a:ext cx="4095750" cy="0"/>
          </a:xfrm>
          <a:prstGeom prst="straightConnector1">
            <a:avLst/>
          </a:prstGeom>
          <a:ln w="9525">
            <a:solidFill>
              <a:srgbClr val="C8CDD5"/>
            </a:solidFill>
            <a:prstDash val="solid"/>
          </a:ln>
        </p:spPr>
      </p:cxnSp>
      <p:sp>
        <p:nvSpPr>
          <p:cNvPr id="19" name="audience-body-4">
            <a:extLst>
              <a:ext uri="{FF2B5EF4-FFF2-40B4-BE49-F238E27FC236}">
                <a16:creationId xmlns:a16="http://schemas.microsoft.com/office/drawing/2014/main" id="{F1C5C10D-E506-43FD-A900-20809237A99E}"/>
              </a:ext>
            </a:extLst>
          </p:cNvPr>
          <p:cNvSpPr>
            <a:spLocks noGrp="1"/>
          </p:cNvSpPr>
          <p:nvPr/>
        </p:nvSpPr>
        <p:spPr>
          <a:xfrm>
            <a:off x="7162800" y="4400550"/>
            <a:ext cx="428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56B76"/>
                </a:solidFill>
                <a:latin typeface="Arial"/>
                <a:ea typeface="Arial"/>
                <a:cs typeface="Arial"/>
              </a:rPr>
              <a:t>Оценить риски для терминалов, касс, регистрации и трансляций.</a:t>
            </a:r>
          </a:p>
        </p:txBody>
      </p:sp>
      <p:sp>
        <p:nvSpPr>
          <p:cNvPr id="20" name="audience-callout-bg">
            <a:extLst>
              <a:ext uri="{FF2B5EF4-FFF2-40B4-BE49-F238E27FC236}">
                <a16:creationId xmlns:a16="http://schemas.microsoft.com/office/drawing/2014/main" id="{655C6E7D-2EE1-4DA0-AFAA-07602CFE5E58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514350"/>
          </a:xfrm>
          <a:prstGeom prst="rect">
            <a:avLst/>
          </a:prstGeom>
          <a:solidFill>
            <a:srgbClr val="DCEBFF"/>
          </a:solidFill>
          <a:ln w="0">
            <a:noFill/>
            <a:prstDash val="solid"/>
          </a:ln>
        </p:spPr>
      </p:sp>
      <p:sp>
        <p:nvSpPr>
          <p:cNvPr id="21" name="audience-callout">
            <a:extLst>
              <a:ext uri="{FF2B5EF4-FFF2-40B4-BE49-F238E27FC236}">
                <a16:creationId xmlns:a16="http://schemas.microsoft.com/office/drawing/2014/main" id="{C5F6DCC3-38A3-44F8-84F0-5FD79E24A0B2}"/>
              </a:ext>
            </a:extLst>
          </p:cNvPr>
          <p:cNvSpPr>
            <a:spLocks noGrp="1"/>
          </p:cNvSpPr>
          <p:nvPr/>
        </p:nvSpPr>
        <p:spPr>
          <a:xfrm>
            <a:off x="838200" y="5676900"/>
            <a:ext cx="1051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3016" lnSpcReduction="10000"/>
          </a:bodyPr>
          <a:lstStyle/>
          <a:p>
            <a:pPr algn="ctr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Общая потребность: понять качество связи до того, как возникнет проблема.</a:t>
            </a:r>
          </a:p>
        </p:txBody>
      </p:sp>
    </p:spTree>
    <p:extLst>
      <p:ext uri="{BB962C8B-B14F-4D97-AF65-F5344CB8AC3E}">
        <p14:creationId xmlns:p14="http://schemas.microsoft.com/office/powerpoint/2010/main" val="1330346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ection-5">
            <a:extLst>
              <a:ext uri="{FF2B5EF4-FFF2-40B4-BE49-F238E27FC236}">
                <a16:creationId xmlns:a16="http://schemas.microsoft.com/office/drawing/2014/main" id="{F640409C-6BAE-4BB3-92E9-275D09EC108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4. КОМАНДА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B95F30B-75C1-4D8B-818E-E8BEC6CEBDEF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10934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Команда отвечает за карту и данные</a:t>
            </a:r>
          </a:p>
        </p:txBody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F3F0F295-1452-44DD-9E84-3E24FEDA4024}"/>
              </a:ext>
            </a:extLst>
          </p:cNvPr>
          <p:cNvSpPr>
            <a:spLocks noGrp="1"/>
          </p:cNvSpPr>
          <p:nvPr/>
        </p:nvSpPr>
        <p:spPr>
          <a:xfrm>
            <a:off x="11125200" y="62865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10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56B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am-left-bg">
            <a:extLst>
              <a:ext uri="{FF2B5EF4-FFF2-40B4-BE49-F238E27FC236}">
                <a16:creationId xmlns:a16="http://schemas.microsoft.com/office/drawing/2014/main" id="{E6913177-BD9C-43D0-94DF-01D23FC7BA54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105400" cy="321945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5" name="team-right-bg">
            <a:extLst>
              <a:ext uri="{FF2B5EF4-FFF2-40B4-BE49-F238E27FC236}">
                <a16:creationId xmlns:a16="http://schemas.microsoft.com/office/drawing/2014/main" id="{F293766F-97E0-4337-B12B-63F4D695EFCC}"/>
              </a:ext>
            </a:extLst>
          </p:cNvPr>
          <p:cNvSpPr>
            <a:spLocks noGrp="1"/>
          </p:cNvSpPr>
          <p:nvPr/>
        </p:nvSpPr>
        <p:spPr>
          <a:xfrm>
            <a:off x="6477000" y="1924050"/>
            <a:ext cx="5105400" cy="3219450"/>
          </a:xfrm>
          <a:prstGeom prst="rect">
            <a:avLst/>
          </a:prstGeom>
          <a:solidFill>
            <a:srgbClr val="F0F2F5"/>
          </a:solidFill>
          <a:ln w="0">
            <a:noFill/>
            <a:prstDash val="solid"/>
          </a:ln>
        </p:spPr>
      </p:sp>
      <p:sp>
        <p:nvSpPr>
          <p:cNvPr id="6" name="team-left-label">
            <a:extLst>
              <a:ext uri="{FF2B5EF4-FFF2-40B4-BE49-F238E27FC236}">
                <a16:creationId xmlns:a16="http://schemas.microsoft.com/office/drawing/2014/main" id="{7EB127F1-F419-45CD-BCC3-868C3150D336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УЧАСТНИК 1</a:t>
            </a:r>
          </a:p>
        </p:txBody>
      </p:sp>
      <p:sp>
        <p:nvSpPr>
          <p:cNvPr id="7" name="team-left-name">
            <a:extLst>
              <a:ext uri="{FF2B5EF4-FFF2-40B4-BE49-F238E27FC236}">
                <a16:creationId xmlns:a16="http://schemas.microsoft.com/office/drawing/2014/main" id="{FF0A0249-9417-4C37-96C7-5087A4C55D1E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22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latin typeface="Arial"/>
                <a:ea typeface="Arial"/>
                <a:cs typeface="Arial"/>
              </a:rPr>
              <a:t>Максим</a:t>
            </a:r>
            <a:endParaRPr sz="2250" b="1" dirty="0">
              <a:latin typeface="Arial"/>
              <a:ea typeface="Arial"/>
              <a:cs typeface="Arial"/>
            </a:endParaRPr>
          </a:p>
        </p:txBody>
      </p:sp>
      <p:sp>
        <p:nvSpPr>
          <p:cNvPr id="8" name="team-left-work">
            <a:extLst>
              <a:ext uri="{FF2B5EF4-FFF2-40B4-BE49-F238E27FC236}">
                <a16:creationId xmlns:a16="http://schemas.microsoft.com/office/drawing/2014/main" id="{F8B4B673-4EBB-4107-9D76-9B735C2D8227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4286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требования и пользовательские сценарии</a:t>
            </a:r>
          </a:p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интерфейс и интерактивная карта</a:t>
            </a:r>
          </a:p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клиентская часть приложения</a:t>
            </a:r>
          </a:p>
        </p:txBody>
      </p:sp>
      <p:sp>
        <p:nvSpPr>
          <p:cNvPr id="9" name="team-right-label">
            <a:extLst>
              <a:ext uri="{FF2B5EF4-FFF2-40B4-BE49-F238E27FC236}">
                <a16:creationId xmlns:a16="http://schemas.microsoft.com/office/drawing/2014/main" id="{5F6648CF-CA57-489B-B62B-D50B815635AB}"/>
              </a:ext>
            </a:extLst>
          </p:cNvPr>
          <p:cNvSpPr>
            <a:spLocks noGrp="1"/>
          </p:cNvSpPr>
          <p:nvPr/>
        </p:nvSpPr>
        <p:spPr>
          <a:xfrm>
            <a:off x="6743700" y="22098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УЧАСТНИК 2</a:t>
            </a:r>
          </a:p>
        </p:txBody>
      </p:sp>
      <p:sp>
        <p:nvSpPr>
          <p:cNvPr id="10" name="team-right-name">
            <a:extLst>
              <a:ext uri="{FF2B5EF4-FFF2-40B4-BE49-F238E27FC236}">
                <a16:creationId xmlns:a16="http://schemas.microsoft.com/office/drawing/2014/main" id="{B790F7F1-EC95-4C4C-9DEF-1C7E4824B97E}"/>
              </a:ext>
            </a:extLst>
          </p:cNvPr>
          <p:cNvSpPr>
            <a:spLocks noGrp="1"/>
          </p:cNvSpPr>
          <p:nvPr/>
        </p:nvSpPr>
        <p:spPr>
          <a:xfrm>
            <a:off x="6743700" y="26289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defRPr sz="22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lang="ru-RU" sz="2400" dirty="0">
                <a:latin typeface="Arial"/>
                <a:ea typeface="Arial"/>
                <a:cs typeface="Arial"/>
              </a:rPr>
              <a:t>Вячеслав</a:t>
            </a:r>
            <a:endParaRPr sz="2250" b="1" dirty="0">
              <a:latin typeface="Arial"/>
              <a:ea typeface="Arial"/>
              <a:cs typeface="Arial"/>
            </a:endParaRPr>
          </a:p>
        </p:txBody>
      </p:sp>
      <p:sp>
        <p:nvSpPr>
          <p:cNvPr id="11" name="team-right-work">
            <a:extLst>
              <a:ext uri="{FF2B5EF4-FFF2-40B4-BE49-F238E27FC236}">
                <a16:creationId xmlns:a16="http://schemas.microsoft.com/office/drawing/2014/main" id="{1FC257BA-AEEF-4A1E-80DD-C2A5C94ED5AD}"/>
              </a:ext>
            </a:extLst>
          </p:cNvPr>
          <p:cNvSpPr>
            <a:spLocks noGrp="1"/>
          </p:cNvSpPr>
          <p:nvPr/>
        </p:nvSpPr>
        <p:spPr>
          <a:xfrm>
            <a:off x="6743700" y="3333750"/>
            <a:ext cx="4286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серверная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часть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и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база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данных</a:t>
            </a:r>
            <a:endParaRPr sz="1575" dirty="0">
              <a:solidFill>
                <a:srgbClr val="656B76"/>
              </a:solidFill>
              <a:latin typeface="Arial"/>
              <a:ea typeface="Arial"/>
              <a:cs typeface="Arial"/>
            </a:endParaRPr>
          </a:p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авторизация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и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обработка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замеров</a:t>
            </a:r>
            <a:endParaRPr sz="1575" dirty="0">
              <a:solidFill>
                <a:srgbClr val="656B76"/>
              </a:solidFill>
              <a:latin typeface="Arial"/>
              <a:ea typeface="Arial"/>
              <a:cs typeface="Arial"/>
            </a:endParaRPr>
          </a:p>
          <a:p>
            <a:pPr algn="l">
              <a:defRPr sz="1575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агрегирование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и</a:t>
            </a:r>
            <a:r>
              <a:rPr sz="1575" dirty="0">
                <a:solidFill>
                  <a:srgbClr val="656B76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656B76"/>
                </a:solidFill>
                <a:latin typeface="Arial"/>
                <a:ea typeface="Arial"/>
                <a:cs typeface="Arial"/>
              </a:rPr>
              <a:t>модерация</a:t>
            </a:r>
            <a:endParaRPr sz="1575" dirty="0">
              <a:solidFill>
                <a:srgbClr val="656B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am-shared">
            <a:extLst>
              <a:ext uri="{FF2B5EF4-FFF2-40B4-BE49-F238E27FC236}">
                <a16:creationId xmlns:a16="http://schemas.microsoft.com/office/drawing/2014/main" id="{B2083904-1E22-4862-93EF-A27F22779100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Совместно: архитектура, тестирование, документация и демонстрация</a:t>
            </a:r>
          </a:p>
        </p:txBody>
      </p:sp>
    </p:spTree>
    <p:extLst>
      <p:ext uri="{BB962C8B-B14F-4D97-AF65-F5344CB8AC3E}">
        <p14:creationId xmlns:p14="http://schemas.microsoft.com/office/powerpoint/2010/main" val="195957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se-kicker">
            <a:extLst>
              <a:ext uri="{FF2B5EF4-FFF2-40B4-BE49-F238E27FC236}">
                <a16:creationId xmlns:a16="http://schemas.microsoft.com/office/drawing/2014/main" id="{4CF97848-CC62-48CD-B2FA-CF5F1E5DFA4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РЕЗУЛЬТАТ ПЕРВОЙ ВЕРСИИ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A593B68E-7858-42E1-8D51-BC0BD550D7EF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9334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5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Рабочий</a:t>
            </a:r>
            <a:r>
              <a:rPr sz="5400" b="1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пилот</a:t>
            </a:r>
            <a:endParaRPr sz="5400" b="1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  <a:p>
            <a:pPr algn="l">
              <a:defRPr sz="54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одного</a:t>
            </a:r>
            <a:r>
              <a:rPr sz="5400" b="1" dirty="0">
                <a:solidFill>
                  <a:srgbClr val="111318"/>
                </a:solidFill>
                <a:latin typeface="Arial"/>
                <a:ea typeface="Arial"/>
                <a:cs typeface="Arial"/>
              </a:rPr>
              <a:t> </a:t>
            </a:r>
            <a:r>
              <a:rPr sz="5400" b="1" dirty="0" err="1">
                <a:solidFill>
                  <a:srgbClr val="111318"/>
                </a:solidFill>
                <a:latin typeface="Arial"/>
                <a:ea typeface="Arial"/>
                <a:cs typeface="Arial"/>
              </a:rPr>
              <a:t>города</a:t>
            </a:r>
            <a:endParaRPr sz="5400" b="1" dirty="0">
              <a:solidFill>
                <a:srgbClr val="1113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lose-accent">
            <a:extLst>
              <a:ext uri="{FF2B5EF4-FFF2-40B4-BE49-F238E27FC236}">
                <a16:creationId xmlns:a16="http://schemas.microsoft.com/office/drawing/2014/main" id="{FF203E26-101F-48C2-B9B7-16DA168E4771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104900" cy="95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close-lines">
            <a:extLst>
              <a:ext uri="{FF2B5EF4-FFF2-40B4-BE49-F238E27FC236}">
                <a16:creationId xmlns:a16="http://schemas.microsoft.com/office/drawing/2014/main" id="{C6A9E3DE-7DCA-4E08-B39F-AE2BCE67C393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572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9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656B76"/>
                </a:solidFill>
                <a:latin typeface="Arial"/>
                <a:ea typeface="Arial"/>
                <a:cs typeface="Arial"/>
              </a:rPr>
              <a:t>Карта цветных зон</a:t>
            </a:r>
          </a:p>
          <a:p>
            <a:pPr algn="l">
              <a:defRPr sz="19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656B76"/>
                </a:solidFill>
                <a:latin typeface="Arial"/>
                <a:ea typeface="Arial"/>
                <a:cs typeface="Arial"/>
              </a:rPr>
              <a:t>Замеры и оценка актуальности</a:t>
            </a:r>
          </a:p>
          <a:p>
            <a:pPr algn="l">
              <a:defRPr sz="1950">
                <a:solidFill>
                  <a:srgbClr val="656B76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656B76"/>
                </a:solidFill>
                <a:latin typeface="Arial"/>
                <a:ea typeface="Arial"/>
                <a:cs typeface="Arial"/>
              </a:rPr>
              <a:t>Фильтры по оператору и сценарию</a:t>
            </a:r>
          </a:p>
        </p:txBody>
      </p:sp>
    </p:spTree>
    <p:extLst>
      <p:ext uri="{BB962C8B-B14F-4D97-AF65-F5344CB8AC3E}">
        <p14:creationId xmlns:p14="http://schemas.microsoft.com/office/powerpoint/2010/main" val="5873295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Macintosh PowerPoint</Application>
  <DocSecurity>0</DocSecurity>
  <PresentationFormat>Широкоэкранный</PresentationFormat>
  <Paragraphs>97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msbryzgalov</cp:lastModifiedBy>
  <cp:revision>1</cp:revision>
  <dcterms:created xsi:type="dcterms:W3CDTF">2026-09-02T10:27:22Z</dcterms:created>
  <dcterms:modified xsi:type="dcterms:W3CDTF">2026-09-02T11:52:44Z</dcterms:modified>
</cp:coreProperties>
</file>